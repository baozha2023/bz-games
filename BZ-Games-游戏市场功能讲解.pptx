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a002690cd4c78" /><Relationship Type="http://schemas.openxmlformats.org/officeDocument/2006/relationships/extended-properties" Target="/docProps/app.xml" Id="R78159306a73c4320" /><Relationship Type="http://schemas.openxmlformats.org/officeDocument/2006/relationships/officeDocument" Target="/ppt/presentation.xml" Id="R51fa0d15c8a04a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ec51a9c664c15"/>
  </p:sldMasterIdLst>
  <p:notesMasterIdLst>
    <p:notesMasterId xmlns:r="http://schemas.openxmlformats.org/officeDocument/2006/relationships" r:id="R300e032819b94cd8"/>
  </p:notesMasterIdLst>
  <p:sldIdLst>
    <p:sldId xmlns:r="http://schemas.openxmlformats.org/officeDocument/2006/relationships" id="256" r:id="R902f16ddc5244f57"/>
    <p:sldId xmlns:r="http://schemas.openxmlformats.org/officeDocument/2006/relationships" id="257" r:id="R1be6e8acb1b04460"/>
    <p:sldId xmlns:r="http://schemas.openxmlformats.org/officeDocument/2006/relationships" id="258" r:id="Rc8cd736b2ca94bb5"/>
    <p:sldId xmlns:r="http://schemas.openxmlformats.org/officeDocument/2006/relationships" id="259" r:id="Rbcbf61e12a704694"/>
    <p:sldId xmlns:r="http://schemas.openxmlformats.org/officeDocument/2006/relationships" id="260" r:id="R33f649a87f9142a7"/>
    <p:sldId xmlns:r="http://schemas.openxmlformats.org/officeDocument/2006/relationships" id="261" r:id="Rdf6ab9b8a5594d43"/>
    <p:sldId xmlns:r="http://schemas.openxmlformats.org/officeDocument/2006/relationships" id="262" r:id="Rfe48eb5e1a0e4112"/>
    <p:sldId xmlns:r="http://schemas.openxmlformats.org/officeDocument/2006/relationships" id="263" r:id="Ra8e2eb6a81644435"/>
    <p:sldId xmlns:r="http://schemas.openxmlformats.org/officeDocument/2006/relationships" id="264" r:id="R71e2cf1b257a4893"/>
    <p:sldId xmlns:r="http://schemas.openxmlformats.org/officeDocument/2006/relationships" id="265" r:id="Rc003ac2284b847af"/>
    <p:sldId xmlns:r="http://schemas.openxmlformats.org/officeDocument/2006/relationships" id="266" r:id="R762bfda9b97d44cb"/>
    <p:sldId xmlns:r="http://schemas.openxmlformats.org/officeDocument/2006/relationships" id="267" r:id="R425de986156547af"/>
    <p:sldId xmlns:r="http://schemas.openxmlformats.org/officeDocument/2006/relationships" id="268" r:id="Re04fe0c1503d4741"/>
    <p:sldId xmlns:r="http://schemas.openxmlformats.org/officeDocument/2006/relationships" id="269" r:id="R04a4bfc883784a0d"/>
    <p:sldId xmlns:r="http://schemas.openxmlformats.org/officeDocument/2006/relationships" id="270" r:id="Rd6a2df3ef42e4df5"/>
    <p:sldId xmlns:r="http://schemas.openxmlformats.org/officeDocument/2006/relationships" id="271" r:id="R5cea87cf6abc44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09436f93254d2a" /><Relationship Type="http://schemas.openxmlformats.org/officeDocument/2006/relationships/slideMaster" Target="/ppt/slideMasters/slideMaster1.xml" Id="R07dec51a9c664c15" /><Relationship Type="http://schemas.openxmlformats.org/officeDocument/2006/relationships/notesMaster" Target="/ppt/notesMasters/notesMaster1.xml" Id="R300e032819b94cd8" /><Relationship Type="http://schemas.openxmlformats.org/officeDocument/2006/relationships/presProps" Target="/ppt/presProps.xml" Id="Rcc91c590dbd94b34" /><Relationship Type="http://schemas.openxmlformats.org/officeDocument/2006/relationships/tableStyles" Target="/ppt/tableStyles.xml" Id="R6732b3bed8664d12" /><Relationship Type="http://schemas.openxmlformats.org/officeDocument/2006/relationships/slide" Target="/ppt/slides/slide1.xml" Id="R902f16ddc5244f57" /><Relationship Type="http://schemas.openxmlformats.org/officeDocument/2006/relationships/slide" Target="/ppt/slides/slide2.xml" Id="R1be6e8acb1b04460" /><Relationship Type="http://schemas.openxmlformats.org/officeDocument/2006/relationships/slide" Target="/ppt/slides/slide3.xml" Id="Rc8cd736b2ca94bb5" /><Relationship Type="http://schemas.openxmlformats.org/officeDocument/2006/relationships/slide" Target="/ppt/slides/slide4.xml" Id="Rbcbf61e12a704694" /><Relationship Type="http://schemas.openxmlformats.org/officeDocument/2006/relationships/slide" Target="/ppt/slides/slide5.xml" Id="R33f649a87f9142a7" /><Relationship Type="http://schemas.openxmlformats.org/officeDocument/2006/relationships/slide" Target="/ppt/slides/slide6.xml" Id="Rdf6ab9b8a5594d43" /><Relationship Type="http://schemas.openxmlformats.org/officeDocument/2006/relationships/slide" Target="/ppt/slides/slide7.xml" Id="Rfe48eb5e1a0e4112" /><Relationship Type="http://schemas.openxmlformats.org/officeDocument/2006/relationships/slide" Target="/ppt/slides/slide8.xml" Id="Ra8e2eb6a81644435" /><Relationship Type="http://schemas.openxmlformats.org/officeDocument/2006/relationships/slide" Target="/ppt/slides/slide9.xml" Id="R71e2cf1b257a4893" /><Relationship Type="http://schemas.openxmlformats.org/officeDocument/2006/relationships/slide" Target="/ppt/slides/slide10.xml" Id="Rc003ac2284b847af" /><Relationship Type="http://schemas.openxmlformats.org/officeDocument/2006/relationships/slide" Target="/ppt/slides/slide11.xml" Id="R762bfda9b97d44cb" /><Relationship Type="http://schemas.openxmlformats.org/officeDocument/2006/relationships/slide" Target="/ppt/slides/slide12.xml" Id="R425de986156547af" /><Relationship Type="http://schemas.openxmlformats.org/officeDocument/2006/relationships/slide" Target="/ppt/slides/slide13.xml" Id="Re04fe0c1503d4741" /><Relationship Type="http://schemas.openxmlformats.org/officeDocument/2006/relationships/slide" Target="/ppt/slides/slide14.xml" Id="R04a4bfc883784a0d" /><Relationship Type="http://schemas.openxmlformats.org/officeDocument/2006/relationships/slide" Target="/ppt/slides/slide15.xml" Id="Rd6a2df3ef42e4df5" /><Relationship Type="http://schemas.openxmlformats.org/officeDocument/2006/relationships/slide" Target="/ppt/slides/slide16.xml" Id="R5cea87cf6abc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b0617a612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2b046fc8f4262" /><Relationship Type="http://schemas.openxmlformats.org/officeDocument/2006/relationships/notesMaster" Target="/ppt/notesMasters/notesMaster1.xml" Id="Rabfe6894ba9b47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406c7feb9492b" /><Relationship Type="http://schemas.openxmlformats.org/officeDocument/2006/relationships/notesMaster" Target="/ppt/notesMasters/notesMaster1.xml" Id="R863965ffeca24d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f52d457354d92" /><Relationship Type="http://schemas.openxmlformats.org/officeDocument/2006/relationships/notesMaster" Target="/ppt/notesMasters/notesMaster1.xml" Id="R0beac31df330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d3bbcdafc4d39" /><Relationship Type="http://schemas.openxmlformats.org/officeDocument/2006/relationships/notesMaster" Target="/ppt/notesMasters/notesMaster1.xml" Id="R18280a5cda63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d0ee65d0045d4" /><Relationship Type="http://schemas.openxmlformats.org/officeDocument/2006/relationships/notesMaster" Target="/ppt/notesMasters/notesMaster1.xml" Id="Rbe0520d8d39a45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8b5a91a9d040ad" /><Relationship Type="http://schemas.openxmlformats.org/officeDocument/2006/relationships/notesMaster" Target="/ppt/notesMasters/notesMaster1.xml" Id="Rd72c97d6916649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4a19f745604386" /><Relationship Type="http://schemas.openxmlformats.org/officeDocument/2006/relationships/notesMaster" Target="/ppt/notesMasters/notesMaster1.xml" Id="R00e859f5911f4f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ae7b9be5084d44" /><Relationship Type="http://schemas.openxmlformats.org/officeDocument/2006/relationships/notesMaster" Target="/ppt/notesMasters/notesMaster1.xml" Id="R0ea899137ba34f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fe5c27364249fc" /><Relationship Type="http://schemas.openxmlformats.org/officeDocument/2006/relationships/notesMaster" Target="/ppt/notesMasters/notesMaster1.xml" Id="R7032fbbc7df64c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a4557394ac4ce0" /><Relationship Type="http://schemas.openxmlformats.org/officeDocument/2006/relationships/notesMaster" Target="/ppt/notesMasters/notesMaster1.xml" Id="R2324ba81afd44f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48073925d3456c" /><Relationship Type="http://schemas.openxmlformats.org/officeDocument/2006/relationships/notesMaster" Target="/ppt/notesMasters/notesMaster1.xml" Id="R1f9c83e0887a41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8a36597ae74236" /><Relationship Type="http://schemas.openxmlformats.org/officeDocument/2006/relationships/notesMaster" Target="/ppt/notesMasters/notesMaster1.xml" Id="Rd8bfdf11786a48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bf9dcdd0264435" /><Relationship Type="http://schemas.openxmlformats.org/officeDocument/2006/relationships/notesMaster" Target="/ppt/notesMasters/notesMaster1.xml" Id="R00087a8eccf947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13c14b840d426c" /><Relationship Type="http://schemas.openxmlformats.org/officeDocument/2006/relationships/notesMaster" Target="/ppt/notesMasters/notesMaster1.xml" Id="Reca36870200141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afb54026da4c2d" /><Relationship Type="http://schemas.openxmlformats.org/officeDocument/2006/relationships/notesMaster" Target="/ppt/notesMasters/notesMaster1.xml" Id="R7bed9809e59f4e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14e30966244459" /><Relationship Type="http://schemas.openxmlformats.org/officeDocument/2006/relationships/notesMaster" Target="/ppt/notesMasters/notesMaster1.xml" Id="R84307b1f85a348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大家好，这期视频单独讲 BZ Games 的游戏市场功能。我们不讲云同步，也不讲普通的本地导入，只解决一个问题：怎样把一个游戏正确地放进市场，让用户能看到、下载、校验并安装。视频会先解释两级市场结构，然后分别演示自建市场，以及只向现有第三方市场加入一个游戏，最后逐项讲清 market.json 中最容易写错的字段。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这是用户实际看到的游戏市场。要先建立一个准确概念：market.json 并不保存游戏本体，它保存的是市场、游戏和版本的索引信息。真正的游戏文件仍然通过 downloadUrl 下载。平台拿到索引后，先展示市场和游戏，再根据版本对象完成下载、完整性校验、解压、清单校验与安装。后面所有 JSON 字段，都服务于这条链路。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F:\IDEA\idea-workspace\bz-games\docs\screenshots\game-market.png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BZ Games 采用两级市场结构。第一级是市场目录，读取 sources 数组，决定用户能看到哪些市场。第二级是某一个市场自己的索引，读取 games 数组。每个游戏下面再通过 versions 数组描述可安装版本。当前本地示例也验证了这一点：官方顶层 market.json 同时承担目录和自身市场索引，因此同时有 sources 和 games；第三方市场与 GitHub Release 市场则只有自己的市场索引。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F:\IDEA\idea-workspace\bz-games\bz-games-market\market.json</a:t>
            </a:r>
          </a:p>
          <a:p xmlns:a="http://schemas.openxmlformats.org/drawingml/2006/main">
            <a:r>
              <a:t>- F:\IDEA\idea-workspace\bz-games\bz-games-third-party-market\market.json</a:t>
            </a:r>
          </a:p>
          <a:p xmlns:a="http://schemas.openxmlformats.org/drawingml/2006/main">
            <a:r>
              <a:t>- F:\IDEA\idea-workspace\bz-games\bz-games-github-release-market\market.json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投稿前先选路线。路线 A 是单独建立一个市场，适合你要长期维护一组游戏，或者希望市场有独立品牌和分类。它最终需要作为一个 Source 注册到顶层目录。路线 B 是只加入一个游戏，适合大多数贡献者：找到定位合适的现有市场，只修改它的 games 数组并提交 PR。最常见的错误，就是为了加一个游戏又新建一个市场，或者在游戏 PR 里误改 sources。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F:\IDEA\idea-workspace\bz-games\bz-games-third-party-market\README.md</a:t>
            </a:r>
          </a:p>
          <a:p xmlns:a="http://schemas.openxmlformats.org/drawingml/2006/main">
            <a:r>
              <a:t>- F:\IDEA\idea-workspace\bz-games\bz-games-github-release-market\README.md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两条路线的共同前提，是先准备好游戏包和元数据。安装包支持 zip 与 7z。游戏 id 要用反向域名格式，版本号要符合语义化版本。还需要确定 downloadUrl、文件字节数和 SHA-256。最重要的硬约束是两组一致性：市场条目的 id 必须与包内 game.json.id 完全相同；版本对象的 version 必须与 game.json.version 完全相同。这里不一致，安装阶段一定会失败。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F:\IDEA\idea-workspace\bz-games\src\shared\game-manifest.ts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自建市场按六步走。第一，创建独立仓库，并把 market.json 放在根目录。第二，定义市场身份。第三，在 games 中维护游戏。第四，发布安装包和展示素材。第五，在提交前做本地校验。第六，向顶层目录的 sources 数组注册这个市场。这里要分清职责：你自己的仓库维护 MarketIndex；顶层官方仓库只新增一个 MarketSource，告诉客户端去哪里找到你的 market.json。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F:\IDEA\idea-workspace\bz-games\bz-games-market\market.json</a:t>
            </a:r>
          </a:p>
          <a:p xmlns:a="http://schemas.openxmlformats.org/drawingml/2006/main">
            <a:r>
              <a:t>- F:\IDEA\idea-workspace\bz-games\bz-games-third-party-market\market.json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这是外部独立市场最小骨架。schemaVersion 是索引格式版本；marketId 要稳定且唯一；marketName 是显示名称；generatedAt 和 updatedAt 使用 ISO 8601 时间；games 初始可以为空。注意，外部市场仓库通常不需要 sources，因为它只承担市场索引职责。本地第三方市场和 GitHub Release 市场的实际文件也是这种结构。只有顶层官方 market.json 同时承担目录职责，所以额外包含 sources。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F:\IDEA\idea-workspace\bz-games\bz-games-third-party-market\market.json</a:t>
            </a:r>
          </a:p>
          <a:p xmlns:a="http://schemas.openxmlformats.org/drawingml/2006/main">
            <a:r>
              <a:t>- F:\IDEA\idea-workspace\bz-games\bz-games-github-release-market\market.json</a:t>
            </a:r>
          </a:p>
          <a:p xmlns:a="http://schemas.openxmlformats.org/drawingml/2006/main">
            <a:r>
              <a:t>- F:\IDEA\idea-workspace\bz-games\bz-games-market\market.json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把自建市场加入顶层目录时，需要新增一个 Source。它不复制游戏列表，只描述去哪里读取这个市场。repository 与 branch 决定 raw market.json 的位置；marketId 要与目标市场自己的 marketId 对齐；visibility 为 hidden 时不在市场列表展示；featured 控制重点推荐。coverUrl 是一级市场卡片封面。Source 的颗粒度是一个市场，不是一个游戏，所以不要为每个游戏新增 Source。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F:\IDEA\idea-workspace\bz-games\bz-games-market\market.json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如果只是加入一个游戏，流程更短。先选择定位匹配的目标市场，例如第三方开源游戏市场，或者专门收录 GitHub Release Windows 包的市场。然后 Fork 目标仓库，在 market.json 的 games 数组中新增一个游戏对象，更新 updatedAt，完成校验后提交 PR。整个过程不需要修改顶层 sources，也不需要新建市场。PR 描述里最好写清游戏来源、许可证、入口文件和实际安装测试结果。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F:\IDEA\idea-workspace\bz-games\bz-games-third-party-market\README.md</a:t>
            </a:r>
          </a:p>
          <a:p xmlns:a="http://schemas.openxmlformats.org/drawingml/2006/main">
            <a:r>
              <a:t>- F:\IDEA\idea-workspace\bz-games\bz-games-github-release-market\README.md</a:t>
            </a:r>
          </a:p>
          <a:p xmlns:a="http://schemas.openxmlformats.org/drawingml/2006/main">
            <a:r>
              <a:t>- F:\IDEA\idea-workspace\bz-games\bz-games-third-party-market\market.json</a:t>
            </a:r>
          </a:p>
          <a:p xmlns:a="http://schemas.openxmlformats.org/drawingml/2006/main">
            <a:r>
              <a:t>- F:\IDEA\idea-workspace\bz-games\bz-games-github-release-market\market.json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这是一个最小可用的游戏条目。Game 层描述游戏本身，Version 层描述一个具体安装包。必须至少有一个版本，而且 latestVersion 应该指向 versions 中的推荐稳定版本。示例里的 sha256 不能真的写提示文字，必须替换成 64 位十六进制摘要。对于普通非 GitHub Release 下载地址，当前代码要求提供 size，否则该版本不可下载。建议同时提供 sha256，把完整性校验闭环补齐。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字段可以按职责分成四组。身份字段确定唯一性和作者；展示字段负责市场页面；分类字段决定游戏类型与玩家人数；发布字段控制推荐、可见性和版本集合。id 只能使用小写反向域名格式。name 和 author 最长 100 字符，summary 最长 200 字符。visibility 可以是 public、hidden 或 deprecated。多人类型建议提供人数范围，而实际 game.json 对 multiplayer 和 singlemultiple 会强制要求 multiplayer 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F:\IDEA\idea-workspace\bz-games\src\shared\game-manifest.ts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 是最关键的下载对象。version 必须是有效 SemVer，platformVersion 必须是 SemVer 范围。downloadUrl 必须是 HTTP 或 HTTPS。sha256 可选，但只要填写就必须是 64 位十六进制。当前运行时代码还有一条明确规则：如果不是 GitHub Releases 的标准直链，缺少 size 就会判定为不可下载。GitHub Release 直链可以由平台尝试补充 size，但为了稳定，仍建议把 size 和 sha256 一起写全。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F:\IDEA\idea-workspace\bz-games\src\shared\game-manifest.ts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F:\IDEA\idea-workspace\bz-games\bz-games-github-release-market\README.md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清单有两种接入方式。第一种最推荐：安装包里直接带 game.json，平台在解压后读取并校验。第二种用于第三方包无法修改的情况：在对应 Version 下提供 gameManifest，平台会组合 Game 与 Version 的字段生成 game.json。gameManifest 不允许覆盖 id 和 version，这两个值分别来自 Game.id 与 Version.version。不要在包内清单和市场覆盖中重复维护两份相互冲突的配置。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F:\IDEA\idea-workspace\bz-games\src\shared\game-manifest.ts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F:\IDEA\idea-workspace\bz-games\bz-games-third-party-market\README.md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平台不会拿到压缩包就直接运行。安装链路依次完成下载、size 与 SHA-256 校验、解压、清单校验、平台版本兼容检查，最后才安装。压缩包支持 zip 和 7z，game.json 可以位于根目录或第一层单子目录。路径安全也有严格限制：绝对路径、盘符路径、点目录和路径穿越都会被拒绝。讲这一页时可以提醒投稿者，JSON 能解析只代表第一关通过，真正的验收标准是完整走通安装。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F:\IDEA\idea-workspace\bz-games\src\shared\game-manifest.ts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提交前最后做一次自检。检查市场身份、反向域名 id、latestVersion 指向、版本号一致性、平台范围、下载地址、size 与 SHA-256。然后删除本机已经安装的同 id 同版本记录，用全新的状态再走一遍下载和安装。只有能从未安装走到可启动，才算完成投稿。如果是 PR，还要把测试平台版本、下载来源和入口文件写在描述里，方便维护者复核。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F:\IDEA\idea-workspace\bz-games\src\shared\game-manifest.ts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最后把整期视频压缩成三句话：一个市场对应一个 Source，一个游戏对应一个 Game，一个安装包对应一个 Version。大多数投稿者先走路线 B，只向现有市场加入一个游戏，成本最低也最容易验证。只有当你确实要长期维护一组游戏、需要独立名称和仓库时，再走路线 A 建立自己的市场。按照这三层职责拆分，market.json 就不会越写越乱。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F:\IDEA\idea-workspace\bz-games\src\shared\types\market.types.ts</a:t>
            </a:r>
          </a:p>
          <a:p xmlns:a="http://schemas.openxmlformats.org/drawingml/2006/main">
            <a:r>
              <a:t>- F:\IDEA\idea-workspace\bz-games\bz-games-market\README.md</a:t>
            </a:r>
          </a:p>
          <a:p xmlns:a="http://schemas.openxmlformats.org/drawingml/2006/main">
            <a:r>
              <a:t>- F:\IDEA\idea-workspace\bz-games\bz-games-third-party-market\README.md</a:t>
            </a:r>
          </a:p>
          <a:p xmlns:a="http://schemas.openxmlformats.org/drawingml/2006/main">
            <a:r>
              <a:t>- F:\IDEA\idea-workspace\bz-games\bz-games-github-release-market\README.md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0e769f74d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9f4bd5c1614871" /><Relationship Type="http://schemas.openxmlformats.org/officeDocument/2006/relationships/slideLayout" Target="/ppt/slideLayouts/slideLayout1.xml" Id="Race1b18b871744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e1b18b871744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3a55e029b4e35" /><Relationship Type="http://schemas.openxmlformats.org/officeDocument/2006/relationships/image" Target="/ppt/media/image.png" Id="R6862593bd2984844" /><Relationship Type="http://schemas.openxmlformats.org/officeDocument/2006/relationships/notesSlide" Target="/ppt/notesSlides/notesSlide1.xml" Id="Ra192b4fe5aad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ed0435594f23" /><Relationship Type="http://schemas.openxmlformats.org/officeDocument/2006/relationships/image" Target="/ppt/media/image2.png" Id="Rb907a9739b3e4cdb" /><Relationship Type="http://schemas.openxmlformats.org/officeDocument/2006/relationships/notesSlide" Target="/ppt/notesSlides/notesSlide2.xml" Id="R2cd96c4813f5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4adddae164bc1" /><Relationship Type="http://schemas.openxmlformats.org/officeDocument/2006/relationships/notesSlide" Target="/ppt/notesSlides/notesSlide3.xml" Id="R0bf69e463cc74a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c1f22d96546c5" /><Relationship Type="http://schemas.openxmlformats.org/officeDocument/2006/relationships/notesSlide" Target="/ppt/notesSlides/notesSlide4.xml" Id="Rc9c46ed6625546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873cbe57b4fdd" /><Relationship Type="http://schemas.openxmlformats.org/officeDocument/2006/relationships/notesSlide" Target="/ppt/notesSlides/notesSlide5.xml" Id="Rc55ae1ae2c4f49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67a72f51f445d" /><Relationship Type="http://schemas.openxmlformats.org/officeDocument/2006/relationships/notesSlide" Target="/ppt/notesSlides/notesSlide6.xml" Id="R609be8d881704d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3edf24bde4eec" /><Relationship Type="http://schemas.openxmlformats.org/officeDocument/2006/relationships/notesSlide" Target="/ppt/notesSlides/notesSlide7.xml" Id="R5cd4fbd5646746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e1ab92e84b10" /><Relationship Type="http://schemas.openxmlformats.org/officeDocument/2006/relationships/notesSlide" Target="/ppt/notesSlides/notesSlide8.xml" Id="Rf158cd97eea245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5c618ac4148b6" /><Relationship Type="http://schemas.openxmlformats.org/officeDocument/2006/relationships/notesSlide" Target="/ppt/notesSlides/notesSlide9.xml" Id="R60df34ecafef46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6defeb964d80" /><Relationship Type="http://schemas.openxmlformats.org/officeDocument/2006/relationships/notesSlide" Target="/ppt/notesSlides/notesSlide10.xml" Id="Rf0aeb0af4eb044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568a1de4e4cd9" /><Relationship Type="http://schemas.openxmlformats.org/officeDocument/2006/relationships/notesSlide" Target="/ppt/notesSlides/notesSlide11.xml" Id="Rad16e292ea0141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475209d94e14" /><Relationship Type="http://schemas.openxmlformats.org/officeDocument/2006/relationships/notesSlide" Target="/ppt/notesSlides/notesSlide12.xml" Id="R3889455fc1b94f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fd4a38d1f4c41" /><Relationship Type="http://schemas.openxmlformats.org/officeDocument/2006/relationships/notesSlide" Target="/ppt/notesSlides/notesSlide13.xml" Id="Reeb0b05cc37348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b4b39806744d1" /><Relationship Type="http://schemas.openxmlformats.org/officeDocument/2006/relationships/notesSlide" Target="/ppt/notesSlides/notesSlide14.xml" Id="R932916437e5346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0520a15ed4329" /><Relationship Type="http://schemas.openxmlformats.org/officeDocument/2006/relationships/notesSlide" Target="/ppt/notesSlides/notesSlide15.xml" Id="Ra0ec2352f8aa40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489779ec64416" /><Relationship Type="http://schemas.openxmlformats.org/officeDocument/2006/relationships/notesSlide" Target="/ppt/notesSlides/notesSlide16.xml" Id="R280693794b184a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F344A-8B0D-45F2-B8AC-C12E4CBD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BZ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75ECB-9537-484B-8C96-FEB4909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38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1719"/>
                </a:solidFill>
              </a:defRPr>
            </a:pPr>
            <a:r>
              <a:rPr sz="4350" b="1">
                <a:solidFill>
                  <a:srgbClr val="151719"/>
                </a:solidFill>
              </a:rPr>
              <a:t>把你的游戏放进</a:t>
            </a:r>
          </a:p>
          <a:p xmlns:a="http://schemas.openxmlformats.org/drawingml/2006/main">
            <a:pPr>
              <a:defRPr sz="4350" b="1">
                <a:solidFill>
                  <a:srgbClr val="151719"/>
                </a:solidFill>
              </a:defRPr>
            </a:pPr>
            <a:r>
              <a:rPr sz="4350" b="1">
                <a:solidFill>
                  <a:srgbClr val="151719"/>
                </a:solidFill>
              </a:rPr>
              <a:t>游戏市场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5DA13-DAAF-445A-8887-FABD6C0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86E"/>
                </a:solidFill>
              </a:defRPr>
            </a:pPr>
            <a:r>
              <a:rPr sz="1800" b="0">
                <a:solidFill>
                  <a:srgbClr val="62686E"/>
                </a:solidFill>
              </a:rPr>
              <a:t>自建市场 · 向第三方市场投稿 · market.json 字段实战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DDD9B-C92C-4E4C-AD79-FFA6CD82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14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809E5-3610-4464-87A9-D5DCC71B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B69"/>
                </a:solidFill>
              </a:defRPr>
            </a:pPr>
            <a:r>
              <a:rPr sz="1650" b="1">
                <a:solidFill>
                  <a:srgbClr val="173B69"/>
                </a:solidFill>
              </a:rPr>
              <a:t>从一个可下载的游戏包，走到用户可以点击“安装”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2593bd2984844"/>
          <a:stretch xmlns:a="http://schemas.openxmlformats.org/drawingml/2006/main"/>
        </p:blipFill>
        <p:spPr>
          <a:xfrm xmlns:a="http://schemas.openxmlformats.org/drawingml/2006/main">
            <a:off x="9096375" y="16192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DFAAB-1902-4564-867F-201BE75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100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AF29E-9283-4FC4-8381-64AE150F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00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教程目标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8A88E-65AA-47E5-9CA2-EAD9D411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43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看懂结构，选对路线，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写对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1309D-6DF9-4A05-96AF-9F03F973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5859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CA484-53D7-42A0-BD7A-A3D2862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8A1C8-F884-4C83-9A3D-F480441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先看最终效果：市场负责“发现与安装”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403DA-AF42-4603-B9A1-5DBF7F5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7a9739b3e4cdb"/>
          <a:stretch xmlns:a="http://schemas.openxmlformats.org/drawingml/2006/main"/>
        </p:blipFill>
        <p:spPr>
          <a:xfrm xmlns:a="http://schemas.openxmlformats.org/drawingml/2006/main">
            <a:off x="1439612" y="1752600"/>
            <a:ext cx="544562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E2517-B568-4DED-AE82-C749431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429000" cy="3638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09112-CBF9-4EF4-987C-BC2A5F3D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1719"/>
                </a:solidFill>
              </a:defRPr>
            </a:pPr>
            <a:r>
              <a:rPr sz="1950" b="1">
                <a:solidFill>
                  <a:srgbClr val="151719"/>
                </a:solidFill>
              </a:rPr>
              <a:t>市场提供三件事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D8D40-6F83-43AB-96E1-4653AD4E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C6219-78DC-4086-9EF3-6AED351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486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719"/>
                </a:solidFill>
              </a:defRPr>
            </a:pPr>
            <a:r>
              <a:rPr sz="1500" b="0">
                <a:solidFill>
                  <a:srgbClr val="151719"/>
                </a:solidFill>
              </a:rPr>
              <a:t>让用户发现不同市场与游戏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49B46-BE2D-4118-9B45-E409E79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AE388-9EC5-43EF-AD15-4C96DCD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486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719"/>
                </a:solidFill>
              </a:defRPr>
            </a:pPr>
            <a:r>
              <a:rPr sz="1500" b="0">
                <a:solidFill>
                  <a:srgbClr val="151719"/>
                </a:solidFill>
              </a:rPr>
              <a:t>选择版本并下载安装包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A1F45-E99B-4C7F-BE1E-A195B63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AB9B-4D9F-4589-952F-96A78FAA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9600"/>
            <a:ext cx="2486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719"/>
                </a:solidFill>
              </a:defRPr>
            </a:pPr>
            <a:r>
              <a:rPr sz="1500" b="0">
                <a:solidFill>
                  <a:srgbClr val="151719"/>
                </a:solidFill>
              </a:rPr>
              <a:t>校验兼容性、完整性与清单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6B30D-2EB6-4051-9EA8-91B59DD5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76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market.json 是“索引”，不是游戏本体。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8EEF0-61DF-46E0-9168-AAAD430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1409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7E840-169F-40D9-BA37-9E64FBD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56FBF-0541-4ECF-A74F-6C8D681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两级结构：先选市场，再选游戏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F1A9D-60F8-4571-B36C-9EE524A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F1A90-974D-4452-9769-6E8A4A9F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1000125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7E41D-DAF2-40B8-884D-E642F0DB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1000125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F9D37-0CE9-407B-B19C-B7C8C7D6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83AD7-D8D2-4654-B396-5D9DF5DE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一级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4D28-A02A-48AE-8256-0933AC60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市场目录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C5476-AC6C-41FE-8BF5-9C18E7BD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sources[]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66925-8031-4544-9424-B6DADF78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8CDD2"/>
                </a:solidFill>
              </a:defRPr>
            </a:pPr>
            <a:r>
              <a:rPr sz="1275" b="0">
                <a:solidFill>
                  <a:srgbClr val="C8CDD2"/>
                </a:solidFill>
              </a:rPr>
              <a:t>决定展示哪些市场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C2D11-EB5D-4673-BA19-D2EC3F5B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70D85-A2BA-436D-8455-2BC9FD2B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二级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73ACA-E748-4727-9888-D357277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1719"/>
                </a:solidFill>
              </a:defRPr>
            </a:pPr>
            <a:r>
              <a:rPr sz="2400" b="1">
                <a:solidFill>
                  <a:srgbClr val="151719"/>
                </a:solidFill>
              </a:rPr>
              <a:t>市场索引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22452-7FE6-4457-A793-B403E14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games[]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61B39-263A-457D-8FD8-54AEF6C1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决定这个市场有哪些游戏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AB809-4B48-4A1E-9CDD-D748C183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D6789-8B6C-4047-AEFC-F1372CCE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839CD-822D-4C55-AD50-CCA68224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1719"/>
                </a:solidFill>
              </a:defRPr>
            </a:pPr>
            <a:r>
              <a:rPr sz="2400" b="1">
                <a:solidFill>
                  <a:srgbClr val="151719"/>
                </a:solidFill>
              </a:rPr>
              <a:t>安装对象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587FD-C0BF-4A26-81A8-78A9BD4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86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B69"/>
                </a:solidFill>
              </a:defRPr>
            </a:pPr>
            <a:r>
              <a:rPr sz="1650" b="1">
                <a:solidFill>
                  <a:srgbClr val="173B69"/>
                </a:solidFill>
              </a:rPr>
              <a:t>versions[]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6F01E-1653-4E46-BD9D-582DEEE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决定下载、校验与兼容性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C719D-323B-4EA6-8398-A83CF683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顶层官方 market.json 同时拥有 sources 与 games；外部市场通常只需要自己的市场索引。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258EA-E5F6-4C08-A115-9EC8CAAD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7566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868FA-DD2C-413A-AFA9-007C376C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17B93-F8E7-41C6-B204-5EC3AA74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先做选择：建一个市场，还是只投一个游戏？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03A41-D49C-4D4B-B73C-25CDDB3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58163-ECC1-43DF-B199-DE071963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95875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2F887-2057-488E-9BB6-45DE845C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路线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F52F0-23E2-47C5-B2F0-ACA501A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单独建立游戏市场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C51A-91E0-4218-B287-3DFACE2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D86B2-9495-459C-8A71-2AAE3A9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你要长期维护一组游戏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2236A-821C-4997-8632-E65A17B8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AACDC-F0F5-4355-810F-D0D1179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你需要独立名称、封面与仓库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A9836-1E33-4452-995C-7BB19AC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0AE14-BA35-46F0-8C8E-56D33507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最终要在顶层 sources 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744EF-B6B0-44C7-A34E-044F311D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4000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6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4D580-05D5-4231-A856-04CB1A57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产物：一个新的 market.json 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C3677-A6A8-4550-A082-18A8627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53721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99DA8-7A38-4B47-AB63-DCCBC0B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路线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D26D9-25C7-4FA5-8C67-FE71BE63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1719"/>
                </a:solidFill>
              </a:defRPr>
            </a:pPr>
            <a:r>
              <a:rPr sz="2400" b="1">
                <a:solidFill>
                  <a:srgbClr val="151719"/>
                </a:solidFill>
              </a:rPr>
              <a:t>只向现有市场加入游戏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4CD88-0DDB-4785-A581-4EB3AC9C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77C9C-3B62-42B7-B9E4-4892D741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719"/>
                </a:solidFill>
              </a:defRPr>
            </a:pPr>
            <a:r>
              <a:rPr sz="1500" b="0">
                <a:solidFill>
                  <a:srgbClr val="151719"/>
                </a:solidFill>
              </a:rPr>
              <a:t>只贡献一个或少量游戏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6EE6B-3A04-4C0A-A5F2-692EC1F1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CDB9C-5990-4CC5-AA57-BC0459A2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24300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719"/>
                </a:solidFill>
              </a:defRPr>
            </a:pPr>
            <a:r>
              <a:rPr sz="1500" b="0">
                <a:solidFill>
                  <a:srgbClr val="151719"/>
                </a:solidFill>
              </a:rPr>
              <a:t>遵循目标市场已有定位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A9389-6E34-49E8-B88D-516044A1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EE52D-35CA-4D2A-ADAD-0815A9DE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719"/>
                </a:solidFill>
              </a:defRPr>
            </a:pPr>
            <a:r>
              <a:rPr sz="1500" b="0">
                <a:solidFill>
                  <a:srgbClr val="151719"/>
                </a:solidFill>
              </a:rPr>
              <a:t>只修改目标仓库的 games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C778D-AED6-4B99-88F4-4F079E2C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095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709AE-57E0-4325-B462-9483969D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B69"/>
                </a:solidFill>
              </a:defRPr>
            </a:pPr>
            <a:r>
              <a:rPr sz="1125" b="1">
                <a:solidFill>
                  <a:srgbClr val="173B69"/>
                </a:solidFill>
              </a:rPr>
              <a:t>产物：一个 MarketGame 条目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66411-0839-4A80-8E57-E24F5218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927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73851-1BB6-4276-A445-6FD6F69D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F0084-C6E1-4F71-A490-12E7B873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无论走哪条路线，都先准备好 5 项材料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1FC23-9495-4D40-8FD3-25723AB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0757D-4BA8-4BD0-8A12-05AC9775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9227F-6812-4825-9EEF-5969D48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AFFDE-B80C-4C70-B88A-F8EBB2AF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安装包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80B45-4A44-48B6-8757-BE139E43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86E"/>
                </a:solidFill>
              </a:defRPr>
            </a:pPr>
            <a:r>
              <a:rPr sz="1350" b="0">
                <a:solidFill>
                  <a:srgbClr val="62686E"/>
                </a:solidFill>
              </a:rPr>
              <a:t>.zip 或 .7z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4FBB6-A455-40B2-A76A-F67B8B3F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686E"/>
                </a:solidFill>
              </a:defRPr>
            </a:pPr>
            <a:r>
              <a:rPr sz="1200" b="1">
                <a:solidFill>
                  <a:srgbClr val="62686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94C4D-9F10-48BD-8581-6FA0297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DF754-59FB-4162-87FD-DBCF34FF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唯一标识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00AD3-F64B-47AD-85D4-7D60159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86E"/>
                </a:solidFill>
              </a:defRPr>
            </a:pPr>
            <a:r>
              <a:rPr sz="1350" b="0">
                <a:solidFill>
                  <a:srgbClr val="62686E"/>
                </a:solidFill>
              </a:rPr>
              <a:t>反向域名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2D5AA-E9EB-4E8B-8CA6-23A8B73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686E"/>
                </a:solidFill>
              </a:defRPr>
            </a:pPr>
            <a:r>
              <a:rPr sz="1200" b="1">
                <a:solidFill>
                  <a:srgbClr val="62686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E4CFB-7FAE-4DDC-9C31-35301FA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82270-928A-4E9A-A3FD-2079BB9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版本信息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26592-E68B-48AB-BED6-D88E29F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86E"/>
                </a:solidFill>
              </a:defRPr>
            </a:pPr>
            <a:r>
              <a:rPr sz="1350" b="0">
                <a:solidFill>
                  <a:srgbClr val="62686E"/>
                </a:solidFill>
              </a:rPr>
              <a:t>SemVer + 平台范围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7FE29-7C95-472D-952C-36389DC5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686E"/>
                </a:solidFill>
              </a:defRPr>
            </a:pPr>
            <a:r>
              <a:rPr sz="1200" b="1">
                <a:solidFill>
                  <a:srgbClr val="62686E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26FAA-3CB0-47D5-92FE-3F3743B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ED7DC-D338-4468-BB30-72A47777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下载元数据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F45E3-35C5-4024-8C9D-6EBE5E3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86E"/>
                </a:solidFill>
              </a:defRPr>
            </a:pPr>
            <a:r>
              <a:rPr sz="1350" b="0">
                <a:solidFill>
                  <a:srgbClr val="62686E"/>
                </a:solidFill>
              </a:rPr>
              <a:t>URL、size、sha256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D2673-1394-4F08-9FA3-9D561F7B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686E"/>
                </a:solidFill>
              </a:defRPr>
            </a:pPr>
            <a:r>
              <a:rPr sz="1200" b="1">
                <a:solidFill>
                  <a:srgbClr val="62686E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0C30E-3969-4203-A46D-464B8809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24100"/>
            <a:ext cx="1657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13A6F-7BAD-4874-AFB6-5722523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展示素材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027F7-290F-40D3-B92F-704910B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86E"/>
                </a:solidFill>
              </a:defRPr>
            </a:pPr>
            <a:r>
              <a:rPr sz="1350" b="0">
                <a:solidFill>
                  <a:srgbClr val="62686E"/>
                </a:solidFill>
              </a:rPr>
              <a:t>名称、简介、图标、封面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C8AD5-C1C0-4EB2-8B48-11B1023B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668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E9A29-3C96-46B1-A23F-E4BF0C88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关键一致性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817C6-EE32-4001-A349-DCFD39D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69"/>
                </a:solidFill>
              </a:defRPr>
            </a:pPr>
            <a:r>
              <a:rPr sz="1800" b="1">
                <a:solidFill>
                  <a:srgbClr val="173B69"/>
                </a:solidFill>
              </a:rPr>
              <a:t>market.game.id ＝ game.json.id    ｜    version.version ＝ game.json.version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AA4EA-E4C1-4057-BEFF-1816592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6810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DFD97-2874-4B3D-ADB7-D40502C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F1835-0AAA-4C31-9513-C3361AD9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路线 A：自建市场的完整步骤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8D102-AA28-4F18-820D-FAF03F3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96E86-AE91-4F33-9C9A-BBD5925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59F12-98D8-47C8-835A-70F5F14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70E78-D3E2-4933-A3DE-4D296366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创建独立仓库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00DF3-796C-4684-ABD3-1FDA3B0B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根目录放置 market.json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E8AEC-E5AC-4144-8091-A1C6432C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6BC17-39AB-4228-B808-C73F74F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2F479-0C1E-4258-8566-4E6CE4A4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定义市场身份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08AD0-B123-42CA-9C41-F6C1582B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填写 marketId、marketName、时间与仓库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9E55F-CB47-4B81-B68A-0F8D00F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58B13-945B-4B4B-A555-8F30A94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530EC-8875-44ED-BC5C-57D8A49D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维护 games 数组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E2824-5698-41E9-8810-D620292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每款游戏至少提供一个可安装版本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0CF21-01BD-4915-AF73-62B4D431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6305F-5809-44BC-8208-38447B3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D9C1A-83ED-49EF-ABA8-545C80A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发布安装包与素材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7119E-049B-4966-8B88-B288715E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确保下载 URL 可直接访问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A6C55-738E-44C2-B5ED-BC44AFFE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29B33-DA2D-4818-80D1-28D33662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BC7E0-B7E4-499E-92CE-1A15565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本地校验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752AD-41FC-49C8-8D17-52EA7B47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格式、SemVer、URL、文件元数据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2BE4B-9917-4088-A12D-2C2A5D5A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2B77F-4021-4047-B12F-95077CCE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022D2-658B-46A2-A0D6-C20FE54D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33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注册到顶层目录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17F23-7B78-4C57-AD00-2E893A2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38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在官方 market.json 的 sources 中加入 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A3F02-95C5-41F9-918D-D199920D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363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02112-FD7A-418A-B726-99BDADA8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自建市场的核心：你维护“市场索引”；顶层目录只保存指向它的 Source。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7D60A-4213-460B-9483-67F1EF7D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6171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99F98-BD13-4665-A411-F02F902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B7675-C1A3-43E6-B07B-64611FD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自建市场：根目录 market.json 最小骨架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D96D2-370B-4218-80E4-3E8673E6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2816D-8671-45CB-A4BB-FA12F156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19900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252B3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92338-E22D-4802-B54E-056001F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DB042-5B73-494D-87CB-E12691C7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0DFC6-667D-4E08-A934-156AC74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48483-A4BA-4751-B51C-A07A5670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63627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{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"schemaVersion": "1.3.0",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"marketId": "my-studio",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"marketName": "My Studio Market",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"generatedAt": "2026-07-30T08:00:00.000Z",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"updatedAt": "2026-07-30T08:00:00.000Z",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"repository": "https://github.com/me/my-market.git",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"author": "My Studio",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  "games": []</a:t>
            </a:r>
          </a:p>
          <a:p xmlns:a="http://schemas.openxmlformats.org/drawingml/2006/main">
            <a:pPr>
              <a:defRPr sz="1350" b="0">
                <a:solidFill>
                  <a:srgbClr val="EAF2F8"/>
                </a:solidFill>
              </a:defRPr>
            </a:pPr>
            <a:r>
              <a:rPr sz="1350" b="0">
                <a:solidFill>
                  <a:srgbClr val="EAF2F8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5BB81-A3AC-4C69-A585-A9F20A6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1719"/>
                </a:solidFill>
              </a:defRPr>
            </a:pPr>
            <a:r>
              <a:rPr sz="1950" b="1">
                <a:solidFill>
                  <a:srgbClr val="151719"/>
                </a:solidFill>
              </a:rPr>
              <a:t>这个文件回答 3 个问题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A5AC9-2752-42C4-AE0E-A51334C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590F5-06D3-4D7A-8C46-ABBF32F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我是谁：marketId / marketName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6593B-F9EB-4880-9A62-0B661DC5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870CB-4473-4597-8272-AE683BB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我何时更新：generatedAt / updatedAt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BB1BA-FF06-4E81-85EE-4F919D16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53D83-08E4-46E5-932E-A03F6E0D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我有哪些游戏：games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E301D-93C1-4007-BB3A-20DCDDB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3333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DEE4D-5B4D-4B3C-A989-8C67D21A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69"/>
                </a:solidFill>
              </a:defRPr>
            </a:pPr>
            <a:r>
              <a:rPr sz="1425" b="1">
                <a:solidFill>
                  <a:srgbClr val="173B69"/>
                </a:solidFill>
              </a:rPr>
              <a:t>外部市场通常不需要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E9430-1A4D-4E85-A703-FDA2D753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sources 属于顶层市场目录。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1EED7-2E46-45D3-B5C5-67E718F4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6331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D1A78D-2047-4832-9C76-BAC1027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76332-E0BB-4804-B9B4-18DCD5A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注册市场时，Source 只描述“去哪里读取”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D7068-B3A4-4D3B-838F-1E451CB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BA9F9-B741-471F-88F0-AD6FC5A7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112E8-9635-4CB8-812E-3828456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04801-A385-4C95-A564-E92FE9F4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478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A0BB4-8EFF-40D8-A0ED-D1D87997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621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93508-C85F-4DB3-BB08-D687990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478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8F425-70C3-4C95-B14E-52F4E77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E1A27-5047-44CF-B329-DA08049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8FF95-8A53-47B0-9C80-C6D7FDB3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marketId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4A468-DF8A-4C3E-9149-190B52F8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9980D-7FAB-4ABC-BC14-DD32F02D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193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必填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EE81F-FB62-4936-A049-D322446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4BAB7-C6F8-42EF-9C40-1234635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市场唯一标识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76606-A1F6-4F05-9999-E54A001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1E61B-AE53-4AF3-B143-ECCC306F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marketName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E125B-8342-41E5-B7AF-AFAD26C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622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265E0-DD6E-4629-8B2E-2832C1CC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必填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6EACA-C205-431A-803F-EA23061D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22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7BD82-1D7A-4EA4-A18B-ABD78C3F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一级页面显示名称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B1A19-F437-46E9-934F-5B5BE3CB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37082-CF1F-4510-8207-9338ED0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coverUrl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23F73-E868-47C1-94E5-1869DE91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194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14C2B-F2FE-44A5-BE43-4D7B523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337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可选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364F2D-E20B-4CFF-B383-D7F2BE2F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91ED8D-DC39-4F3B-9417-F3E6B86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市场封面 URL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CBE87-57C4-4A67-9313-6FDFFA95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28189-8C2E-49A9-A1F5-9530FC7A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generatedAt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1FEBDE-79F4-4491-8383-40880482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766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D3A5BB-9926-4211-A877-7ADB3872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909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必填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2FA33-E8E9-4CE5-B3E6-6427BF2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C0A872-51AE-4F24-9ED1-00768914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ISO 8601 生成时间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6791C-DFBB-497B-8780-4C78228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417EB3-D935-4A1C-A621-3C896BFA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repository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B3DEF7-6151-4A05-89B6-2E9AB9D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338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A2104A-4399-4443-8538-7D0E4265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481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必填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0E3C60-DD88-4748-93F6-00C95FDB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338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79B8D1-4586-459A-AD3B-4083D9B3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GitHub 仓库地址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9B999F-7AAA-4B1B-A5B0-C5856E6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C77BC-AE87-4113-8FF5-D26C35C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branch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C152EA-2460-4612-8190-3730D132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5910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503AD7-00D7-48AA-B6FA-371587F5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053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必填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357DB4-0BD9-4852-BE59-381982F3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5D88AC-A248-4CFB-9AF6-3E026F4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053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例如 main 或 master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20EE8A-3DB8-40CD-9EFA-4741905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660C05-388A-4BDC-AA49-406B7E4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featured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7B0057-B64A-4DCF-AAA1-7520A594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482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E6CF66-5344-440F-A463-013E2C8A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625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可选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0FDB2-E400-4C4A-B35C-3C0DAAB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07B100-07B1-41A5-9DF0-BBF58434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25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是否重点推荐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A1D494-8772-4BFD-9524-524FF9B3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D9F10A-C6F8-4AF0-83E9-E114008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B69"/>
                </a:solidFill>
              </a:defRPr>
            </a:pPr>
            <a:r>
              <a:rPr sz="1200" b="1">
                <a:solidFill>
                  <a:srgbClr val="173B69"/>
                </a:solidFill>
              </a:rPr>
              <a:t>visibility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418C2B-53FF-4CCA-97EB-BDA4453D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5054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F366DA-43A8-414D-930C-BAD407E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197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可选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FFB8FE-7796-4273-B218-F210238C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054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C947E7-32B9-428A-945D-842050E7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719"/>
                </a:solidFill>
              </a:defRPr>
            </a:pPr>
            <a:r>
              <a:rPr sz="1200" b="0">
                <a:solidFill>
                  <a:srgbClr val="151719"/>
                </a:solidFill>
              </a:rPr>
              <a:t>public / hidden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822422-DCE7-44DC-B786-104906F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5921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C1306-BBBF-4259-9134-D6BFC2E8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53A5-094E-46E0-9575-3147C7D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路线 B：只加一个游戏，不碰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C22A3-65B8-4211-8FD6-3CE5E233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2F89D-A539-4ACA-8862-49D021BE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72575-BA83-4246-BC57-070F8508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9F8F-D702-4AC7-BD22-9CC055D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9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选择目标市场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71DE1-9D57-4624-A335-F83F17DB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95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第三方开源游戏 / GitHub Release / 其他独立市场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B6084-3071-46F3-AAB2-7F2E0074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FF112-182F-4545-A1BB-84EA4685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7D05F-9F92-49C1-A093-930020EA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Fork 并创建分支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19635-912B-40E5-96F6-9FEED21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遵循目标市场自己的 README 与定位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5BBB6-C7D9-4F1A-839F-56269B71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1D0DE-F43C-495B-9F54-6FAB05AB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40C02-7E94-4D10-BB1F-76243E7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向 games 新增条目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E6334-3799-4DF5-8C22-D22A8816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填写 Game 基础信息与至少一个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8975A-CD1D-47B7-8DA1-9413DE46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C3CCA-E301-45C5-8DAE-C313E55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9589F-9F6F-4964-AC65-53F967C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更新 updatedAt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0B6C0-2362-4427-804D-60F10A3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使用当前 UTC 时间，保持 JSON 可解析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D5161-46FE-4BA7-8140-9E8AF3DF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16FC6-BD8D-4885-A702-D851A3C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B9667-73F9-4D5A-BEAC-81C9CC6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719"/>
                </a:solidFill>
              </a:defRPr>
            </a:pPr>
            <a:r>
              <a:rPr sz="1725" b="1">
                <a:solidFill>
                  <a:srgbClr val="151719"/>
                </a:solidFill>
              </a:rPr>
              <a:t>提交 Pull Request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45282-E3E1-499C-B3A2-94E70E5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48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说明来源、许可证、入口与测试结果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CFDD9-5064-43FC-923D-A4C0085A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46B6A-B056-48D6-92FE-38B895CD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69"/>
                </a:solidFill>
              </a:defRPr>
            </a:pPr>
            <a:r>
              <a:rPr sz="1350" b="1">
                <a:solidFill>
                  <a:srgbClr val="173B69"/>
                </a:solidFill>
              </a:rPr>
              <a:t>只修改目标仓库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B4819-0911-464A-B9A7-D17477E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5796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BE3D2-C1D9-4E90-B755-BE1507D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AA1D1-90FE-473A-9D82-E0629B9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一个最小可用的 MarketGame 条目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BF17B-B754-41B8-AA53-7F7E94C5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49F1C-4E00-43A2-9CBF-CBA57D2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252B3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52CAC-1983-4019-A271-C1C66FC0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48A99-D50E-4E42-B979-3D45BCA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522AE-B7FF-44DC-89A9-826CA1F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DCCE0-4947-4D31-9352-6CC3283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67818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{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"id": "com.example.mygame",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"name": "示例游戏",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"author": "Example Studio",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"type": "singleplayer",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"summary": "一句话说明游戏玩法",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"latestVersion": "1.0.0",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"versions": [{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  "version": "1.0.0",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  "description": "首个公开版本",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  "platformVersion": "&gt;=3.1.2",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  "downloadUrl": "https://example.com/game.zip",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  "size": 12345678,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  "sha256": "0123456789abcdef0123456789abcdef0123456789abcdef0123456789abcdef"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}]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F3599-596B-49FA-81D5-401D2AB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1719"/>
                </a:solidFill>
              </a:defRPr>
            </a:pPr>
            <a:r>
              <a:rPr sz="1950" b="1">
                <a:solidFill>
                  <a:srgbClr val="151719"/>
                </a:solidFill>
              </a:rPr>
              <a:t>最少要形成闭环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987C8-66F1-42CD-9B42-0D31FD30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D671F-175C-4718-AD37-DB32CA57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name / summary /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EBB3-4EBF-47A4-8650-4BCB86DD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4DE86-9245-450E-AF4E-2F32B1C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909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latestVersion / versions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B6F4D-796F-41E2-A0FF-2033F57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下载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3BB16-AA07-4B19-B4E1-13F5CB1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338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downloadUrl / size / sha256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0BF9F-3661-494B-B335-E4A1BF8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安装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7C006-822D-4654-A008-210B7F6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768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id / version / platformVersion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EBAF6-83B4-40CE-949C-9FF722D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50807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A6DB0-1BDE-4B1F-9681-CB6DE50F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10D44-0100-4692-A5D6-5DF85A0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Game 字段分成四组，按职责理解更容易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EC4D3-C12D-4BEB-B10E-FB9BF521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EC2CF-F68F-4FCB-ADA9-2E5AC17F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591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83749-66CD-4621-8DFA-D29E0104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F8102-5249-4158-BD0B-EED0BD8F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288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id · name · author · author_url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9E6BD-D35B-47EA-9F2E-E441786D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0591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1B7FA-53C4-4AA1-9302-AF1F7DC6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69"/>
                </a:solidFill>
              </a:defRPr>
            </a:pPr>
            <a:r>
              <a:rPr sz="1800" b="1">
                <a:solidFill>
                  <a:srgbClr val="173B69"/>
                </a:solidFill>
              </a:rPr>
              <a:t>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49041-CAED-4C3E-899A-C443A26C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B69"/>
                </a:solidFill>
              </a:defRPr>
            </a:pPr>
            <a:r>
              <a:rPr sz="1425" b="0">
                <a:solidFill>
                  <a:srgbClr val="173B69"/>
                </a:solidFill>
              </a:rPr>
              <a:t>summary · tags · iconUrl · coverUrl · screenshots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B092D-6A8E-443A-B22D-9EDCA74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0591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BBCA-99EE-495E-B2D8-BE68869E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90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6B50"/>
                </a:solidFill>
              </a:defRPr>
            </a:pPr>
            <a:r>
              <a:rPr sz="1800" b="1">
                <a:solidFill>
                  <a:srgbClr val="1D6B50"/>
                </a:solidFill>
              </a:rPr>
              <a:t>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5FFA5-984C-453C-9A97-12E55D3E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6B50"/>
                </a:solidFill>
              </a:defRPr>
            </a:pPr>
            <a:r>
              <a:rPr sz="1425" b="0">
                <a:solidFill>
                  <a:srgbClr val="1D6B50"/>
                </a:solidFill>
              </a:rPr>
              <a:t>type · minPlayers · maxPlayers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3DB07-64A1-4AD0-BCE4-A5A8E01F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10591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E3D8C-4FF2-43F8-8F99-179A5997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815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5818"/>
                </a:solidFill>
              </a:defRPr>
            </a:pPr>
            <a:r>
              <a:rPr sz="1800" b="1">
                <a:solidFill>
                  <a:srgbClr val="815818"/>
                </a:solidFill>
              </a:rPr>
              <a:t>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D07AC-730F-414C-809E-CEBC8C4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15818"/>
                </a:solidFill>
              </a:defRPr>
            </a:pPr>
            <a:r>
              <a:rPr sz="1425" b="0">
                <a:solidFill>
                  <a:srgbClr val="815818"/>
                </a:solidFill>
              </a:rPr>
              <a:t>featured · visibility · latestVersion · versions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03B56-E3AA-4E03-BC41-D3B90C1A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visibility：public / hidden / deprecated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D844D-EEF1-4802-851E-2722944B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62650"/>
            <a:ext cx="538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86E"/>
                </a:solidFill>
              </a:defRPr>
            </a:pPr>
            <a:r>
              <a:rPr sz="1275" b="0">
                <a:solidFill>
                  <a:srgbClr val="62686E"/>
                </a:solidFill>
              </a:rPr>
              <a:t>type：singleplayer / multiplayer / singlemultiple / networkgame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7A40A-134A-4D15-A717-0671B2E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20069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03476-5232-4A90-8F8A-FD87A43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B1C77-F1E3-4C9C-B38B-12D0F18D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Version 决定这个安装包能不能真正下载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1C627-51E8-4366-BC57-4EDDFD06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01D77-1D0C-499C-B2E7-87AA14F8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103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252B3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E85DE-36CB-4C63-A473-91FDBF4F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160C2-D5BD-4E88-82A0-66FB877C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78130-D502-4132-AEA7-16C31CC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DBD3E-7DA0-4427-AD4A-0F8172AE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615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{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"version": "1.2.0",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"description": "新增关卡与手柄支持",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"platformVersion": "&gt;=3.1.2",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"downloadUrl": "https://.../game-1.2.0.zip",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"sha256": "0123456789abcdef0123456789abcdef0123456789abcdef0123456789abcdef",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"size": 24576123,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"publishedAt": "2026-07-30T08:00:00.000Z",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"releaseNotes": "完整更新说明",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"isPrerelease": false,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  "gameManifest": { "entry": "game.exe" }</a:t>
            </a:r>
          </a:p>
          <a:p xmlns:a="http://schemas.openxmlformats.org/drawingml/2006/main">
            <a:pPr>
              <a:defRPr sz="1200" b="0">
                <a:solidFill>
                  <a:srgbClr val="EAF2F8"/>
                </a:solidFill>
              </a:defRPr>
            </a:pPr>
            <a:r>
              <a:rPr sz="1200" b="0">
                <a:solidFill>
                  <a:srgbClr val="EAF2F8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9E25C-3B0F-4E27-AC96-1C8B6D3A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1719"/>
                </a:solidFill>
              </a:defRPr>
            </a:pPr>
            <a:r>
              <a:rPr sz="1950" b="1">
                <a:solidFill>
                  <a:srgbClr val="151719"/>
                </a:solidFill>
              </a:rPr>
              <a:t>运行时硬规则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F285D-193A-4CFE-85C1-0A65740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A09BC-A6DB-43A6-A4D3-33161F52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3248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version 必须是有效 SemVer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183B5-D3EE-4D81-B530-87A58E50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8B171-E92F-471C-AA5B-3726C4C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248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platformVersion 必须是 SemVer 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205E1-CDAF-491B-86A5-464240C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BE9D4-9D76-461C-BA87-E9A865D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248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downloadUrl 只接受 HTTP / HTTPS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87EDD-A520-4FE5-A39A-60BBE253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24AE1-C4C2-4CB0-8DD0-E704A62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48150"/>
            <a:ext cx="3248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sha256 如存在，必须是 64 位 hex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4DB12-C579-4971-916C-2E5F92EF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F9CD8-8051-4A71-ADC4-C549765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3248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非 GitHub Release 直链缺 size：不可下载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F8A2D-CF8F-4BA7-90CA-8329DCC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48300"/>
            <a:ext cx="3524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79440-2EBF-4250-888D-C990CECC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91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4C62"/>
                </a:solidFill>
              </a:defRPr>
            </a:pPr>
            <a:r>
              <a:rPr sz="1350" b="1">
                <a:solidFill>
                  <a:srgbClr val="D84C62"/>
                </a:solidFill>
              </a:rPr>
              <a:t>建议：size 与 sha256 都填写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49832-B490-4950-8D08-A8896CA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134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EFF83-1993-4F41-9E44-6ADC1EC3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5A4E1-D052-474C-9ADD-C48EDAD7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包内有 game.json 就直接校验；没有才用 gameManifest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9DFAB-CFFD-4183-BD60-E0FA04DD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C79D0-9DEE-4ED8-8115-3ADEF456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4667F-C7F1-4B8D-AABA-AC080A5A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原生接入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DCD82-9F51-4218-8A0F-33B52CA0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719"/>
                </a:solidFill>
              </a:defRPr>
            </a:pPr>
            <a:r>
              <a:rPr sz="2175" b="1">
                <a:solidFill>
                  <a:srgbClr val="151719"/>
                </a:solidFill>
              </a:rPr>
              <a:t>安装包内已有 game.json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FD4C3-7305-47FF-81C2-4EA8BA6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F8047-7898-4DAC-A99A-78C682D1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放在根目录或第一层单子目录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FB712-DA16-4196-8C38-D38D28FD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49560-D07F-455A-904F-ADA40975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id / version 与市场条目一致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DE4D1-292C-483B-A600-61719289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342B5-F2C7-42AE-B6B5-D8C91EC6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719"/>
                </a:solidFill>
              </a:defRPr>
            </a:pPr>
            <a:r>
              <a:rPr sz="1350" b="0">
                <a:solidFill>
                  <a:srgbClr val="151719"/>
                </a:solidFill>
              </a:rPr>
              <a:t>entry 使用安全相对路径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493A2-948C-4A83-A72F-4024770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5524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3B433-50FF-485F-86AA-F1AB19E7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第三方适配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54450-B59B-4773-A720-2BB8B12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没有 game.json 时配置 gameManifest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9F07D-6186-48A4-8EE9-15DFA70B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38CE2-47E9-41CB-BB4B-F034B5C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id 来自 Game.id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0031F-CAC1-4457-9550-2E008DF0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9564E-76D8-497D-BBDD-85D025C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version 来自 Version.version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323ED-31AC-490D-BEE7-A394C007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12585-E642-4B73-8F2B-CD6DA40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其余字段可覆盖或按上层信息回退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E00DF-786D-428D-B22E-7FA82941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62600"/>
            <a:ext cx="739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DE2A3-E352-43CD-9ECD-F6B6A438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B69"/>
                </a:solidFill>
              </a:defRPr>
            </a:pPr>
            <a:r>
              <a:rPr sz="1425" b="1">
                <a:solidFill>
                  <a:srgbClr val="173B69"/>
                </a:solidFill>
              </a:rPr>
              <a:t>同一安装包只需要一种清单来源，不要重复维护两份冲突配置。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1DFF4-BE15-4067-A683-F2F287C0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18326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261536-7B8A-4330-9C65-3815909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B3120-24A0-4546-A56F-86F0576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安装链路会逐关拦截错误数据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B0550-B038-4CFF-BB4D-D4EBB9D2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AAFCC-17F6-4719-8490-9E28BF0C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3A9B6-2E5C-4A93-922F-A99DE535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D83CB-D5C8-4A54-88ED-35C7C26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337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8625B-D70B-4431-8C0A-F7C6F0EC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FDE47-5192-4E5E-BB39-95BFB7D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8D63A-356A-4297-94A7-DED8206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562100" cy="16954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60758-F21A-43A7-BE33-3CDD6CD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60682-EB35-4230-9956-5018471B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下载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B614B-9C91-4925-B6DD-B383E525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86E"/>
                </a:solidFill>
              </a:defRPr>
            </a:pPr>
            <a:r>
              <a:rPr sz="1200" b="0">
                <a:solidFill>
                  <a:srgbClr val="62686E"/>
                </a:solidFill>
              </a:rPr>
              <a:t>URL 可访问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D9184-2F21-4708-BD04-707986CE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1562100" cy="16954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F782E-F5BF-4AC5-A4AC-BC63DC26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18BB1-8434-4278-B5E5-E35BA9BD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4770B-5D26-4B1E-A29A-4DC66E6F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86E"/>
                </a:solidFill>
              </a:defRPr>
            </a:pPr>
            <a:r>
              <a:rPr sz="1200" b="0">
                <a:solidFill>
                  <a:srgbClr val="62686E"/>
                </a:solidFill>
              </a:rPr>
              <a:t>size / sha256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5A916-849B-4026-8165-A30AC64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1562100" cy="16954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1B0EB-A296-4CF7-A356-4F18E7AE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79696-5BF4-440B-AB0C-B397FE4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解压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9E399-95E0-4E11-9DF7-5AF9D1D1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90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86E"/>
                </a:solidFill>
              </a:defRPr>
            </a:pPr>
            <a:r>
              <a:rPr sz="1200" b="0">
                <a:solidFill>
                  <a:srgbClr val="62686E"/>
                </a:solidFill>
              </a:rPr>
              <a:t>ZIP / 7z 与安全路径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1D8BE-F611-4B5B-940B-A570160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1562100" cy="16954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18A6C-5AE5-4B69-993B-01DC401D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8FC37-8A13-46E4-B9F4-A949FE3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清单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D00A2-1C10-434F-B576-13CD3B2B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86E"/>
                </a:solidFill>
              </a:defRPr>
            </a:pPr>
            <a:r>
              <a:rPr sz="1200" b="0">
                <a:solidFill>
                  <a:srgbClr val="62686E"/>
                </a:solidFill>
              </a:rPr>
              <a:t>id / version / entry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04A53-DDF7-4961-A999-B1955AE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1562100" cy="16954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7DBEAB-97C6-4D25-BDC0-85278835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093AE6-61DC-4A2A-879D-1F1F74F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兼容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C33F5-CB2B-44E3-85DE-2AD8D078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86E"/>
                </a:solidFill>
              </a:defRPr>
            </a:pPr>
            <a:r>
              <a:rPr sz="1200" b="0">
                <a:solidFill>
                  <a:srgbClr val="62686E"/>
                </a:solidFill>
              </a:rPr>
              <a:t>platformVersion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C4179-4147-49C2-B70E-83BD802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24100"/>
            <a:ext cx="1562100" cy="16954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D19FB-22DE-4B3A-A219-E874527C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9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7F928-0364-4D96-8687-2EA94C08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337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安装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1DA9EE-B9E8-49DC-B387-AFFCC89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90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ED4D9"/>
                </a:solidFill>
              </a:defRPr>
            </a:pPr>
            <a:r>
              <a:rPr sz="1200" b="0">
                <a:solidFill>
                  <a:srgbClr val="CED4D9"/>
                </a:solidFill>
              </a:rPr>
              <a:t>写入本地游戏库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56C48-A27F-4C2D-BB89-D98E38A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D7DA3-D84B-487D-AFDF-F2F44FE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4B10"/>
                </a:solidFill>
              </a:defRPr>
            </a:pPr>
            <a:r>
              <a:rPr sz="1500" b="1">
                <a:solidFill>
                  <a:srgbClr val="744B10"/>
                </a:solidFill>
              </a:rPr>
              <a:t>任意一步失败都会停止安装；路径穿越、绝对路径和盘符路径会被拒绝。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2C9D27-0F1E-48CC-B4A2-EA77895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75289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D2445-6865-458D-9C3B-BC5FA89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BZ GAMES · 游戏市场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EED1B-E7A1-43F4-9455-423231E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9"/>
                </a:solidFill>
              </a:defRPr>
            </a:pPr>
            <a:r>
              <a:rPr sz="2700" b="1">
                <a:solidFill>
                  <a:srgbClr val="151719"/>
                </a:solidFill>
              </a:rPr>
              <a:t>提交前，用这张清单做最后一次自检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47929-7F2A-4D04-84A3-D82A2FB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757C2-005E-46E8-BA36-25AAEEE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JSON 一致性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58D2A-E89B-4672-AAD5-9DE6165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719"/>
                </a:solidFill>
              </a:defRPr>
            </a:pPr>
            <a:r>
              <a:rPr sz="1875" b="1">
                <a:solidFill>
                  <a:srgbClr val="151719"/>
                </a:solidFill>
              </a:rPr>
              <a:t>下载与安装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5BB3-F497-4620-AFAB-6095EEE0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35AB3-3DCD-469E-A253-F86F3C2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marketId 与目标市场身份一致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EDBD4-B1A6-47C2-ACB2-353E5484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49544-4747-4AEF-A1E9-1B8F9CA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id 使用反向域名且与 game.json 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6A986-CB6B-4BDF-8CE0-0A07BC67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8C6E3-ECBE-41B5-BB06-AACA73A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latestVersion 能在 versions 中找到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2FCB0-2182-498A-9ED8-F76B1194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F30AE-949E-41BD-A860-51EBB73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version 与 game.json.version 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14C05-5FC0-41D7-B460-163DFB3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E2450-6968-4E93-8286-BD63772E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platformVersion 是有效 SemVer 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D10AA-3B72-4AE5-A067-B98E18AC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006FD-3297-4CEF-9414-930579C3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downloadUrl 可直接下载 zip / 7z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63602-48CC-49CA-97C0-06D48AB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B5ED2-5C2A-40DD-8792-3A903573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普通链接已填写 size，建议也填 sha256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D6A05-51CE-425E-8627-BE8329F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A61D0-AC26-45AE-AC4F-651387E6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9"/>
                </a:solidFill>
              </a:defRPr>
            </a:pPr>
            <a:r>
              <a:rPr sz="1425" b="0">
                <a:solidFill>
                  <a:srgbClr val="151719"/>
                </a:solidFill>
              </a:rPr>
              <a:t>本机完成一次全新下载与安装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DB657-32B9-4F17-B451-244C725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401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91BE1-ED19-4F2C-88C2-06E3DFE7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能在开发机上从“未安装”走到“可启动”，才算完成投稿。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BCF4B-E48A-47F2-B4E4-3CD0B91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248841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83A01-6CE4-42DB-82D7-816E0E39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最后记住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A593-6B14-45E3-A17C-CBEA72C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810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一个市场对应一个 Source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一个游戏对应一个 Game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一个安装包对应一个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6391B-4B91-46D7-9037-ED67610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DF455-8F7F-456C-BB72-72975C9B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DDE2"/>
                </a:solidFill>
              </a:defRPr>
            </a:pPr>
            <a:r>
              <a:rPr sz="1800" b="0">
                <a:solidFill>
                  <a:srgbClr val="D7DDE2"/>
                </a:solidFill>
              </a:rPr>
              <a:t>先用路线 B 跑通一个游戏；需要长期维护一组内容时，再升级到路线 A。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5B380-5D4F-4FA4-BB1B-141E0D5C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本地参考仓库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7FA9D-5078-45AF-9ACE-4401B5E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bz-games-market  ·  bz-games-third-party-market  ·  bz-games-github-release-market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96D82-FAEE-4005-8D37-8BA4E75D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A0A5"/>
                </a:solidFill>
              </a:defRPr>
            </a:pPr>
            <a:r>
              <a:rPr sz="900" b="1">
                <a:solidFill>
                  <a:srgbClr val="9AA0A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3406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2026-07-29T16:29:54.4900000Z</dcterms:created>
  <dcterms:modified xsi:type="dcterms:W3CDTF">2026-07-29T16:29:54.4900000Z</dcterms:modified>
</coreProperties>
</file>